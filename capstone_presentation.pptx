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introduction. State your name, program, and briefly introduce the topic: using UFLI assessment and reteaching to support kindergarteners struggling with letter identification after Tier 1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research question aloud. Emphasize the focus on students who are struggling AFTER receiving standard Tier 1 instruction — this is about targeted intervention, not replacing core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review key terms. Don't read every definition — highlight the most important ones (letter recognition, letter sounds, letter-sound correspondence) and note that these definitions guided your data collection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intervention: each student is assessed on all 26 letters across three categories — uppercase recognition, lowercase recognition, and letter sounds. This totals 78 data points per student per assessment. Reteaching targets the specific letters a student has NOT mastered.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app's key features. Emphasize that it was purpose-built for this research project. Highlight the Live Assessment (flashcard-based, three phases), the color-coded scoring system, and the ability to track individual and cohort progress over time. If you have a screenshot or live demo, show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assessment flow step by step. Emphasize: (1) sequential phases ensure complete data, (2) each letter is individually assessed, (3) results are instantly color-coded, (4) data saves directly to Google Sheets for longitudinal tracking. Point out the color-coded scoring legend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data is collected and how it connects to your research question. The left side describes the raw data; the right side maps each data point to the research constructs. Emphasize that Total Letter ID % (average of uppercase and lowercase) maps to the operational definition of 'literacy skills.'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SLIDE — Replace the gray boxes with actual data:</a:t>
            </a:r>
          </a:p>
          <a:p>
            <a:r>
              <a:t>• Left: Pre/post comparison table (screenshot from Student Scorecard or export)</a:t>
            </a:r>
          </a:p>
          <a:p>
            <a:r>
              <a:t>• Right: Progress chart (screenshot from Individual Progress tab)</a:t>
            </a:r>
          </a:p>
          <a:p/>
          <a:p>
            <a:r>
              <a:t>Talk through the data: What were scores at baseline? What are they now? Which students showed the most growth? Were there any surprises?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SLIDE — Replace bracketed text with your actual findings.</a:t>
            </a:r>
          </a:p>
          <a:p>
            <a:r>
              <a:t>• Replace the gray box with a Cohort Progress or Student Ranking screenshot.</a:t>
            </a:r>
          </a:p>
          <a:p>
            <a:r>
              <a:t>• Discuss what the data shows in relation to your research question.</a:t>
            </a:r>
          </a:p>
          <a:p>
            <a:r>
              <a:t>• Connect findings back to operational definitions (letter recognition, letter sounds, literacy skills).</a:t>
            </a:r>
          </a:p>
          <a:p>
            <a:r>
              <a:t>• Note any patterns: Did uppercase or lowercase improve more? Was sounds the most challenging?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SLIDE — Replace bracketed text with your personal reflections.</a:t>
            </a:r>
          </a:p>
          <a:p>
            <a:r>
              <a:t>This is where you address the rubric's 'Quality of conclusion' criterion.</a:t>
            </a:r>
          </a:p>
          <a:p>
            <a:r>
              <a:t>• Reflect on the research question: Was it answered? Partially?</a:t>
            </a:r>
          </a:p>
          <a:p>
            <a:r>
              <a:t>• Discuss the role of the Letter ID Tracker as a data collection tool.</a:t>
            </a:r>
          </a:p>
          <a:p>
            <a:r>
              <a:t>• Be honest about limitations and what you'd change.</a:t>
            </a:r>
          </a:p>
          <a:p>
            <a:r>
              <a:t>• End with professional growth and how this shapes your practice going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 The rubric includes 'Response to Questions' (2 pts) — be prepared to discuss:</a:t>
            </a:r>
          </a:p>
          <a:p>
            <a:r>
              <a:t>• Why you chose the UFLI sequence specifically</a:t>
            </a:r>
          </a:p>
          <a:p>
            <a:r>
              <a:t>• How you selected the target students</a:t>
            </a:r>
          </a:p>
          <a:p>
            <a:r>
              <a:t>• Technical details about the Letter ID Tracker if asked</a:t>
            </a:r>
          </a:p>
          <a:p>
            <a:r>
              <a:t>• Limitations of the study</a:t>
            </a:r>
          </a:p>
          <a:p>
            <a:r>
              <a:t>• What you would do differently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0D47A1"/>
                </a:solidFill>
                <a:latin typeface="Calibri"/>
              </a:defRPr>
            </a:pPr>
            <a:r>
              <a:t>Impact of UFLI Assessment and Reteaching Sequence</a:t>
            </a:r>
            <a:br/>
            <a:r>
              <a:t>on Kindergarten Letter Identification and Letter Sounds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79"/>
              </a:lnSpc>
              <a:spcAft>
                <a:spcPts val="0"/>
              </a:spcAft>
              <a:defRPr sz="2200" b="0">
                <a:solidFill>
                  <a:srgbClr val="666666"/>
                </a:solidFill>
                <a:latin typeface="Calibri"/>
              </a:defRPr>
            </a:pPr>
            <a:r>
              <a:t>Masters Capstone Action Research</a:t>
            </a:r>
            <a:br/>
            <a:r>
              <a:t>EDUC 9510  •  Fitchburg State University  • 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66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09728" cy="3200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8961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2600" b="0">
                <a:solidFill>
                  <a:srgbClr val="1A1A1A"/>
                </a:solidFill>
                <a:latin typeface="Calibri"/>
              </a:defRPr>
            </a:pPr>
            <a:r>
              <a:t>"What is the impact of using the UFLI assessment and reteaching sequence with my Kindergarten students struggling to recognize letter identification and letter sounds after Tier 1 instruction?"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Target Population: Kindergarten students who have not met letter identification benchmarks following Tier 1 instruction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Operational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Letter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To identify a specific letter from the alphabet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Letter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659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To identify a specific letter and the sound it makes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Letter-Sound Correspondence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60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The relationship between a sound (phoneme) and the letter(s) (grapheme) that spell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Alphabetic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54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The understanding that spoken words are represented by letters in written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Literacy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Letter name identification and letter sound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Sensorimotor Experiences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343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A1A1A"/>
                </a:solidFill>
                <a:latin typeface="Calibri"/>
              </a:defRPr>
            </a:pPr>
            <a:r>
              <a:t>Hands-on ways to understand and learn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234440"/>
            <a:ext cx="1033272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UFLI Assessment &amp; Reteaching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Systematic assessment of all 26 letters across three pillars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Identifies specific letters each student has not yet mastered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Targeted reteaching based on individual assessment data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Progress monitored through repeated assessments over time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Intervention delivered to students below benchmark after Tier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1737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E88E5"/>
                </a:solidFill>
                <a:latin typeface="Calibri"/>
              </a:defRPr>
            </a:pPr>
            <a:r>
              <a:t>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Uppercase</a:t>
            </a:r>
            <a:br/>
            <a:r>
              <a:t>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Can the student identify</a:t>
            </a:r>
            <a:br/>
            <a:r>
              <a:t>each uppercase letter?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199" y="1645920"/>
            <a:ext cx="1737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199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E88E5"/>
                </a:solidFill>
                <a:latin typeface="Calibri"/>
              </a:defRPr>
            </a:pPr>
            <a:r>
              <a:t>abc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39" y="24688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Lowercase</a:t>
            </a:r>
            <a:br/>
            <a:r>
              <a:t>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39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Can the student identify</a:t>
            </a:r>
            <a:br/>
            <a:r>
              <a:t>each lowercase letter?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19" y="1645920"/>
            <a:ext cx="1737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9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E88E5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9" y="24688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Letter</a:t>
            </a:r>
            <a:br/>
            <a:r>
              <a:t>Sounds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9" y="3383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Can the student produce</a:t>
            </a:r>
            <a:br/>
            <a:r>
              <a:t>each letter sound?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666666"/>
                </a:solidFill>
                <a:latin typeface="Calibri"/>
              </a:defRPr>
            </a:pPr>
            <a:r>
              <a:t>26 letters × 3 pillars = 78 items per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Tool: Letter ID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A custom-built Streamlit web application for real-time letter identification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Live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Interactive flashcard-based assessment</a:t>
            </a:r>
            <a:br/>
            <a:r>
              <a:t>with sequential three-phase flow</a:t>
            </a:r>
            <a:br/>
            <a:r>
              <a:t>(Uppercase → Lowercase → Sounds)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01168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Student Scorecard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56032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At-a-glance metrics for every student</a:t>
            </a:r>
            <a:br/>
            <a:r>
              <a:t>with color-coded performance</a:t>
            </a:r>
            <a:br/>
            <a:r>
              <a:t>indicators (green/yellow/orange/red)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Individual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56032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Track each student's growth</a:t>
            </a:r>
            <a:br/>
            <a:r>
              <a:t>over time with grouped bar</a:t>
            </a:r>
            <a:br/>
            <a:r>
              <a:t>charts and detailed data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Student Ranking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75488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Side-by-side ranking of students</a:t>
            </a:r>
            <a:br/>
            <a:r>
              <a:t>by Total Letter ID % and</a:t>
            </a:r>
            <a:br/>
            <a:r>
              <a:t>Letter Sound % with progress bars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420624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Cohort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475488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Averaged metrics across selected</a:t>
            </a:r>
            <a:br/>
            <a:r>
              <a:t>students to view whole-group</a:t>
            </a:r>
            <a:br/>
            <a:r>
              <a:t>trends and class-level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206240"/>
            <a:ext cx="35204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88E5"/>
                </a:solidFill>
                <a:latin typeface="Calibri"/>
              </a:defRPr>
            </a:pPr>
            <a:r>
              <a:t>Export 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754880"/>
            <a:ext cx="315468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Generate printable PDF reports</a:t>
            </a:r>
            <a:br/>
            <a:r>
              <a:t>with scores, charts, and</a:t>
            </a:r>
            <a:br/>
            <a:r>
              <a:t>color-coded letter grids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Works: Live 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20116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82880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Select</a:t>
            </a:r>
            <a:br/>
            <a: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Choose a student and</a:t>
            </a:r>
            <a:br/>
            <a:r>
              <a:t>set letter order</a:t>
            </a:r>
            <a:br/>
            <a:r>
              <a:t>(sequential or random)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1E88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45920"/>
            <a:ext cx="20116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182880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Uppercase</a:t>
            </a:r>
            <a:br/>
            <a:r>
              <a:t>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Flash each of 26</a:t>
            </a:r>
            <a:br/>
            <a:r>
              <a:t>uppercase letters;</a:t>
            </a:r>
            <a:br/>
            <a:r>
              <a:t>mark Identified or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1E88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645920"/>
            <a:ext cx="20116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182880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Lowercase</a:t>
            </a:r>
            <a:br/>
            <a:r>
              <a:t>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Flash each of 26</a:t>
            </a:r>
            <a:br/>
            <a:r>
              <a:t>lowercase letters;</a:t>
            </a:r>
            <a:br/>
            <a:r>
              <a:t>mark Identified or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1E88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645920"/>
            <a:ext cx="20116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0" y="182880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Sounds</a:t>
            </a:r>
            <a:br/>
            <a:r>
              <a:t>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Flash each of 26</a:t>
            </a:r>
            <a:br/>
            <a:r>
              <a:t>lowercase letters;</a:t>
            </a:r>
            <a:br/>
            <a:r>
              <a:t>student says the sound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1E88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1645920"/>
            <a:ext cx="20116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75720" y="182880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0D47A1"/>
                </a:solidFill>
                <a:latin typeface="Calibri"/>
              </a:defRPr>
            </a:pPr>
            <a:r>
              <a:t>Review &amp;</a:t>
            </a:r>
            <a:br/>
            <a:r>
              <a:t>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See results, color-coded</a:t>
            </a:r>
            <a:br/>
            <a:r>
              <a:t>letter grids, and save</a:t>
            </a:r>
            <a:br/>
            <a:r>
              <a:t>to Google Sheets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Color-Coded Scoring System: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5623560"/>
            <a:ext cx="320040" cy="320040"/>
          </a:xfrm>
          <a:prstGeom prst="rect">
            <a:avLst/>
          </a:prstGeom>
          <a:solidFill>
            <a:srgbClr val="09A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56052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≥ 80%  Proficient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5623560"/>
            <a:ext cx="320040" cy="320040"/>
          </a:xfrm>
          <a:prstGeom prst="rect">
            <a:avLst/>
          </a:prstGeom>
          <a:solidFill>
            <a:srgbClr val="FAC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6052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≥ 65%  Approaching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5623560"/>
            <a:ext cx="32004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56052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≥ 40%  Developing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5623560"/>
            <a:ext cx="320040" cy="320040"/>
          </a:xfrm>
          <a:prstGeom prst="rect">
            <a:avLst/>
          </a:prstGeom>
          <a:solidFill>
            <a:srgbClr val="FF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56052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&lt; 40%  Beginning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What Data Is Collected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Per-letter identification status (Known / Unknown) for all 26 letters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Three separate scores per assessment: Uppercase %, Lowercase %, Sounds %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Computed Total Letter ID % (average of Uppercase + Lowercase)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Timestamped assessment history for longitudinal tracking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Individual letter-level data stored in Google Sheets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Assessment history preserved for pre/post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How It Maps to the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029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Uppercase + Lowercase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48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→  Letter Recognition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80360"/>
            <a:ext cx="5029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Sounds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9260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→  Letter Sounds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029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703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Total Letter ID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703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→  Literacy 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34840"/>
            <a:ext cx="5029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Per-Letter Known/Unknown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→  Targeted Reteaching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212080"/>
            <a:ext cx="5029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2578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Pre/Post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578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→  Measuring Intervention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Pre-Assessment vs. Post-Assessment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0292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[Insert Pre/Post Data Table or</a:t>
            </a:r>
            <a:br/>
            <a:r>
              <a:t>Screenshot from Student Scorecard]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94560"/>
            <a:ext cx="50292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[Insert Progress Chart or</a:t>
            </a:r>
            <a:br/>
            <a:r>
              <a:t>Screenshot from Individual Progress Tab]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Tip: Use screenshots from the Letter ID Tracker app's Student Scorecard and Individual Progress tabs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Analysis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[Finding 1: e.g., Average cohort uppercase score increased from X% to Y%]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[Finding 2: e.g., Sounds recognition showed the most/least growth]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[Finding 3: e.g., X out of Y students moved from red/orange to yellow/green]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[Finding 4: e.g., Letters most commonly missed were ___]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[Insert Cohort Progress Chart or</a:t>
            </a:r>
            <a:br/>
            <a:r>
              <a:t>Student Ranking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Tip: Use screenshots from the Cohort Progress and Student Ranking tabs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Reflection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[How the UFLI sequence impacted student learning]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[How the Letter ID Tracker supported data-driven instruction]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[What worked well in the intervention process]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[What was challenging or surprising]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D47A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[How you would modify the intervention]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[How the technology tool could be improved]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[Implications for your teaching practice]</a:t>
            </a:r>
          </a:p>
          <a:p>
            <a:pPr>
              <a:spcAft>
                <a:spcPts val="14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[How this research informs future instruction]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"The goal is not to prove, but to improve." — Action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0D47A1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666666"/>
                </a:solidFill>
                <a:latin typeface="Calibri"/>
              </a:defRPr>
            </a:pPr>
            <a:r>
              <a:t>Thank you for your time and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